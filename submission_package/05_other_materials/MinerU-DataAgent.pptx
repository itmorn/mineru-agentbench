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D9E1EA">
                <a:alpha val="80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" y="2615184"/>
            <a:ext cx="7178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5F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面向复杂文档解析与可信结构化的智能体系统</a:t>
            </a:r>
            <a:endParaRPr lang="en-US" sz="1600" dirty="0">
              <a:solidFill>
                <a:srgbClr val="D7E5F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3310128"/>
            <a:ext cx="4526280" cy="429768"/>
          </a:xfrm>
          <a:prstGeom prst="roundRect">
            <a:avLst>
              <a:gd name="adj" fmla="val 212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438144"/>
            <a:ext cx="42519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从复杂 PDF 到可验证、可追溯、可入库的数据资产</a:t>
            </a:r>
            <a:endParaRPr lang="en-US" sz="950" b="1" dirty="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646920" y="1508760"/>
            <a:ext cx="713232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20072" y="1581912"/>
            <a:ext cx="566928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PDF</a:t>
            </a:r>
            <a:endParaRPr lang="en-US" sz="10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6920" y="2331720"/>
            <a:ext cx="713232" cy="420624"/>
          </a:xfrm>
          <a:prstGeom prst="roundRect">
            <a:avLst>
              <a:gd name="adj" fmla="val 13043"/>
            </a:avLst>
          </a:prstGeom>
          <a:solidFill>
            <a:srgbClr val="CFFAFE"/>
          </a:solidFill>
          <a:ln w="8890">
            <a:solidFill>
              <a:srgbClr val="CFF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20072" y="2404872"/>
            <a:ext cx="566928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Agent</a:t>
            </a:r>
            <a:endParaRPr lang="en-US" sz="10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46920" y="3154680"/>
            <a:ext cx="713232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20072" y="3227832"/>
            <a:ext cx="566928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</a:t>
            </a:r>
            <a:endParaRPr lang="en-US" sz="10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46920" y="3977640"/>
            <a:ext cx="713232" cy="420624"/>
          </a:xfrm>
          <a:prstGeom prst="roundRect">
            <a:avLst>
              <a:gd name="adj" fmla="val 13043"/>
            </a:avLst>
          </a:prstGeom>
          <a:solidFill>
            <a:srgbClr val="CFFAFE"/>
          </a:solidFill>
          <a:ln w="8890">
            <a:solidFill>
              <a:srgbClr val="CFF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4050792"/>
            <a:ext cx="566928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校验</a:t>
            </a:r>
            <a:endParaRPr lang="en-US" sz="10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46920" y="4800600"/>
            <a:ext cx="713232" cy="420624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0072" y="4873752"/>
            <a:ext cx="566928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JSON</a:t>
            </a:r>
            <a:endParaRPr lang="en-US" sz="10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003536" y="1929384"/>
            <a:ext cx="0" cy="402336"/>
          </a:xfrm>
          <a:prstGeom prst="line">
            <a:avLst/>
          </a:prstGeom>
          <a:noFill/>
          <a:ln w="1397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03536" y="2752344"/>
            <a:ext cx="0" cy="402336"/>
          </a:xfrm>
          <a:prstGeom prst="line">
            <a:avLst/>
          </a:prstGeom>
          <a:noFill/>
          <a:ln w="1397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03536" y="3575304"/>
            <a:ext cx="0" cy="402336"/>
          </a:xfrm>
          <a:prstGeom prst="line">
            <a:avLst/>
          </a:prstGeom>
          <a:noFill/>
          <a:ln w="1397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03536" y="4398264"/>
            <a:ext cx="0" cy="402336"/>
          </a:xfrm>
          <a:prstGeom prst="line">
            <a:avLst/>
          </a:prstGeom>
          <a:noFill/>
          <a:ln w="1397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68096" y="60807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技术路演版</a:t>
            </a:r>
            <a:endParaRPr lang="en-US" sz="900" dirty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768096" y="39776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zh-CN" altLang="en-US" sz="900" dirty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小通通队</a:t>
            </a:r>
            <a:endParaRPr lang="zh-CN" altLang="en-US" sz="900" dirty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8096" y="421513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altLang="zh-CN" sz="900" dirty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24463047@</a:t>
            </a:r>
            <a:r>
              <a:rPr lang="en-US" altLang="zh-CN" sz="900" dirty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qq.com</a:t>
            </a:r>
            <a:endParaRPr lang="en-US" altLang="zh-CN" sz="900" dirty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768096" y="4448175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altLang="zh-CN" sz="900" dirty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18221021679</a:t>
            </a:r>
            <a:endParaRPr lang="en-US" altLang="zh-CN" sz="900" dirty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背景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 PDF 处理的真实痛点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31012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1848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01</a:t>
            </a:r>
            <a:endParaRPr lang="en-US" sz="13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53312" y="1581912"/>
            <a:ext cx="237744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版式复杂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2130552"/>
            <a:ext cx="283464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多栏、图表、页码、页眉页脚混杂</a:t>
            </a:r>
            <a:endParaRPr lang="en-US" sz="10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53128" y="1417320"/>
            <a:ext cx="331012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61848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02</a:t>
            </a:r>
            <a:endParaRPr lang="en-US" sz="1300" b="1" dirty="0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48072" y="1581912"/>
            <a:ext cx="237744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表格密集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72584" y="2130552"/>
            <a:ext cx="283464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财报 / 研报核心信息集中在复杂表格</a:t>
            </a:r>
            <a:endParaRPr lang="en-US" sz="10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47888" y="1417320"/>
            <a:ext cx="331012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61848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03</a:t>
            </a:r>
            <a:endParaRPr lang="en-US" sz="1300" b="1" dirty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42832" y="1581912"/>
            <a:ext cx="237744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跨页割裂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67344" y="2130552"/>
            <a:ext cx="283464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长表格被分页切断，逻辑表不完整</a:t>
            </a:r>
            <a:endParaRPr lang="en-US" sz="10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566160"/>
            <a:ext cx="331012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7673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04</a:t>
            </a:r>
            <a:endParaRPr lang="en-US" sz="1300" b="1" dirty="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53312" y="3730752"/>
            <a:ext cx="237744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单位混乱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7824" y="4279392"/>
            <a:ext cx="283464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 / 万元 / 亿元 / 百分比并存</a:t>
            </a:r>
            <a:endParaRPr lang="en-US" sz="10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53128" y="3566160"/>
            <a:ext cx="331012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7673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05</a:t>
            </a:r>
            <a:endParaRPr lang="en-US" sz="1300" b="1" dirty="0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48072" y="3730752"/>
            <a:ext cx="237744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难以复核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72584" y="4279392"/>
            <a:ext cx="283464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解析结果缺少来源、质量分和日志</a:t>
            </a:r>
            <a:endParaRPr lang="en-US" sz="10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47888" y="3566160"/>
            <a:ext cx="331012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376732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06</a:t>
            </a:r>
            <a:endParaRPr lang="en-US" sz="1300" b="1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42832" y="3730752"/>
            <a:ext cx="237744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批量不稳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67344" y="4279392"/>
            <a:ext cx="283464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异常文档导致流程中断、不可复现</a:t>
            </a:r>
            <a:endParaRPr lang="en-US" sz="10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定位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项目定位：不是转换器，而是数据生产 Agent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转 Markdown</a:t>
            </a:r>
            <a:endParaRPr lang="en-US" sz="170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063240" cy="3200400"/>
          </a:xfrm>
          <a:prstGeom prst="roundRect">
            <a:avLst>
              <a:gd name="adj" fmla="val 1791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240280"/>
            <a:ext cx="2423160" cy="22402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只提取可读文本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sz="13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结构层级容易丢失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sz="13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表格与数字难复用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sz="13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无法判断结果可信度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977640" y="3429000"/>
            <a:ext cx="11887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60520" y="3054096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升级</a:t>
            </a:r>
            <a:endParaRPr lang="en-US" sz="10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06440" y="14630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可信结构化数据资产</a:t>
            </a:r>
            <a:endParaRPr lang="en-US" sz="17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0" y="1874520"/>
            <a:ext cx="50749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228600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9592" y="2359152"/>
            <a:ext cx="932688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章节树</a:t>
            </a:r>
            <a:endParaRPr lang="en-US" sz="10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251192" y="228600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CFFAFE"/>
          </a:solidFill>
          <a:ln w="8890">
            <a:solidFill>
              <a:srgbClr val="CFF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2359152"/>
            <a:ext cx="932688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表格对象</a:t>
            </a:r>
            <a:endParaRPr lang="en-US" sz="10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95944" y="228600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889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9096" y="2359152"/>
            <a:ext cx="932688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财务指标</a:t>
            </a:r>
            <a:endParaRPr lang="en-US" sz="10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06440" y="338328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EDE9FE"/>
          </a:solidFill>
          <a:ln w="889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3456432"/>
            <a:ext cx="932688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质量报告</a:t>
            </a:r>
            <a:endParaRPr lang="en-US" sz="10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51192" y="338328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FFEFD5"/>
          </a:solidFill>
          <a:ln w="8890">
            <a:solidFill>
              <a:srgbClr val="FFE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3456432"/>
            <a:ext cx="932688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运行日志</a:t>
            </a:r>
            <a:endParaRPr lang="en-US" sz="10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95944" y="3383280"/>
            <a:ext cx="1078992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889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69096" y="3456432"/>
            <a:ext cx="932688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风险提示</a:t>
            </a:r>
            <a:endParaRPr lang="en-US" sz="10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06440" y="4434840"/>
            <a:ext cx="429768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核心目标：把复杂 PDF 从“可读文本”提升为“可计算、可校验、可复用”的结构化语料。</a:t>
            </a:r>
            <a:endParaRPr lang="en-US" sz="125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架构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总体技术架构：六层闭环设计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" y="1298448"/>
            <a:ext cx="9509760" cy="530352"/>
          </a:xfrm>
          <a:prstGeom prst="roundRect">
            <a:avLst>
              <a:gd name="adj" fmla="val 10345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435608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用户任务输入层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13632" y="1444752"/>
            <a:ext cx="63550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/ Markdown / MinerU JSON / 批量配置</a:t>
            </a:r>
            <a:endParaRPr lang="en-US" sz="9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97880" y="1828800"/>
            <a:ext cx="0" cy="20116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2048256"/>
            <a:ext cx="9509760" cy="530352"/>
          </a:xfrm>
          <a:prstGeom prst="roundRect">
            <a:avLst>
              <a:gd name="adj" fmla="val 10345"/>
            </a:avLst>
          </a:prstGeom>
          <a:solidFill>
            <a:srgbClr val="CFFAFE"/>
          </a:solidFill>
          <a:ln w="8890">
            <a:solidFill>
              <a:srgbClr val="CFF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18541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任务规划与决策层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13632" y="2194560"/>
            <a:ext cx="63550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文档分析 / 策略选择 / 子任务拆解 / 重试决策</a:t>
            </a:r>
            <a:endParaRPr lang="en-US" sz="9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97880" y="2578608"/>
            <a:ext cx="0" cy="20116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143000" y="2798064"/>
            <a:ext cx="9509760" cy="530352"/>
          </a:xfrm>
          <a:prstGeom prst="roundRect">
            <a:avLst>
              <a:gd name="adj" fmla="val 10345"/>
            </a:avLst>
          </a:prstGeom>
          <a:solidFill>
            <a:srgbClr val="D1FAE5"/>
          </a:solidFill>
          <a:ln w="889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93522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工具调用与执行层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13632" y="2944368"/>
            <a:ext cx="63550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 / OCR / 表格解析 / 后处理工具</a:t>
            </a:r>
            <a:endParaRPr lang="en-US" sz="9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97880" y="3328416"/>
            <a:ext cx="0" cy="20116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143000" y="3547872"/>
            <a:ext cx="9509760" cy="530352"/>
          </a:xfrm>
          <a:prstGeom prst="roundRect">
            <a:avLst>
              <a:gd name="adj" fmla="val 10345"/>
            </a:avLst>
          </a:prstGeom>
          <a:solidFill>
            <a:srgbClr val="EDE9FE"/>
          </a:solidFill>
          <a:ln w="889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68503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结构化处理与增强层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13632" y="3694176"/>
            <a:ext cx="63550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章节树 / 表格标准化 / 财务指标 / 清洗</a:t>
            </a:r>
            <a:endParaRPr lang="en-US" sz="9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97880" y="4078224"/>
            <a:ext cx="0" cy="20116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" y="4297680"/>
            <a:ext cx="9509760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889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434840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质量评估与可信校验层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13632" y="4443984"/>
            <a:ext cx="63550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完整性检查 / 单位归一化 / 同比重算 / 异常恢复</a:t>
            </a:r>
            <a:endParaRPr lang="en-US" sz="9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97880" y="4828032"/>
            <a:ext cx="0" cy="20116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143000" y="5047488"/>
            <a:ext cx="9509760" cy="530352"/>
          </a:xfrm>
          <a:prstGeom prst="roundRect">
            <a:avLst>
              <a:gd name="adj" fmla="val 10345"/>
            </a:avLst>
          </a:prstGeom>
          <a:solidFill>
            <a:srgbClr val="FEE2E2"/>
          </a:solidFill>
          <a:ln w="889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5184648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结果导出与服务层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913632" y="5193792"/>
            <a:ext cx="635508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/ Markdown / API / 日志 / 报告</a:t>
            </a:r>
            <a:endParaRPr lang="en-US" sz="9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自动执行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工作流：解析—评估—诊断—修复—再评估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76272"/>
            <a:ext cx="1088136" cy="4206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AnalyzeInput</a:t>
            </a:r>
            <a:endParaRPr lang="en-US" sz="9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11680" y="2386584"/>
            <a:ext cx="5943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21031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2176272"/>
            <a:ext cx="1088136" cy="4206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SelectStrategy</a:t>
            </a:r>
            <a:endParaRPr lang="en-US" sz="9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0" y="2386584"/>
            <a:ext cx="5943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34840" y="21031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176272"/>
            <a:ext cx="1088136" cy="4206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RunMinerU</a:t>
            </a:r>
            <a:endParaRPr lang="en-US" sz="9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0" y="2386584"/>
            <a:ext cx="5943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21031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176272"/>
            <a:ext cx="1088136" cy="4206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BuildSchema</a:t>
            </a:r>
            <a:endParaRPr lang="en-US" sz="9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98080" y="2386584"/>
            <a:ext cx="5943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92440" y="21031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889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176272"/>
            <a:ext cx="1088136" cy="4206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ValidateQuality</a:t>
            </a:r>
            <a:endParaRPr lang="en-US" sz="9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26880" y="2386584"/>
            <a:ext cx="5943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21240" y="21031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D1FAE5"/>
          </a:solidFill>
          <a:ln w="889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94392" y="2176272"/>
            <a:ext cx="1088136" cy="4206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ExportResults</a:t>
            </a:r>
            <a:endParaRPr lang="en-US" sz="95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97280" y="48006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872" y="4919472"/>
            <a:ext cx="237744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低质量结果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61872" y="5193792"/>
            <a:ext cx="237744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诊断失败原因</a:t>
            </a:r>
            <a:endParaRPr lang="en-US" sz="92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17720" y="48006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4919472"/>
            <a:ext cx="237744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调整解析策略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82312" y="5193792"/>
            <a:ext cx="237744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/ 表格增强 / 局部重试</a:t>
            </a:r>
            <a:endParaRPr lang="en-US" sz="92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138160" y="48006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4919472"/>
            <a:ext cx="237744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风险提示</a:t>
            </a:r>
            <a:endParaRPr lang="en-US" sz="11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02752" y="5193792"/>
            <a:ext cx="237744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无法确认则标记人工复核</a:t>
            </a:r>
            <a:endParaRPr lang="en-US" sz="92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文档结构化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核心能力一：复杂文档结构化理解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8463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828800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章节树示意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3000" y="2240280"/>
            <a:ext cx="2194560" cy="603504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313432"/>
            <a:ext cx="2048256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管理层讨论与分析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 1 · p12–18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CFFAFE"/>
          </a:solidFill>
          <a:ln w="8890">
            <a:solidFill>
              <a:srgbClr val="CFF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410712"/>
            <a:ext cx="1591056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主营业务分析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 2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80360" y="33375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D1FAE5"/>
          </a:solidFill>
          <a:ln w="889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3410712"/>
            <a:ext cx="1591056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财务指标表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001</a:t>
            </a:r>
            <a:endParaRPr lang="en-US" sz="9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41605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结构不只保留文本，还保留层级、顺序、页码、章节归属和来源关系。</a:t>
            </a:r>
            <a:endParaRPr lang="en-US" sz="12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120640" cy="4526280"/>
          </a:xfrm>
          <a:prstGeom prst="roundRect">
            <a:avLst>
              <a:gd name="adj" fmla="val 1212"/>
            </a:avLst>
          </a:prstGeom>
          <a:solidFill>
            <a:srgbClr val="0F172A"/>
          </a:solidFill>
          <a:ln w="889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874520"/>
            <a:ext cx="4389120" cy="30632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{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  "document_meta": {},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  "sections": [],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  "tables": [],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  "financial_metrics": [],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  "quality_report": {},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  "run_log": [],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  "warnings": []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}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表格与指标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核心能力二：表格与财务指标标准化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8521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73352"/>
            <a:ext cx="521208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表格对象：从 Markdown / HTML 到标准记录</a:t>
            </a:r>
            <a:endParaRPr lang="en-US" sz="1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51560" y="2286000"/>
            <a:ext cx="1325880" cy="347472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86584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项目</a:t>
            </a:r>
            <a:endParaRPr lang="en-US" sz="88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2286000"/>
            <a:ext cx="1325880" cy="347472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386584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本期金额</a:t>
            </a:r>
            <a:endParaRPr lang="en-US" sz="88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03320" y="2286000"/>
            <a:ext cx="1325880" cy="347472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386584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上期金额</a:t>
            </a:r>
            <a:endParaRPr lang="en-US" sz="88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1325880" cy="347472"/>
          </a:xfrm>
          <a:prstGeom prst="rect">
            <a:avLst/>
          </a:prstGeom>
          <a:solidFill>
            <a:srgbClr val="DBEAFE"/>
          </a:solidFill>
          <a:ln w="508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386584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同比变动</a:t>
            </a:r>
            <a:endParaRPr lang="en-US" sz="88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51560" y="2633472"/>
            <a:ext cx="1325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779776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营业收入</a:t>
            </a:r>
            <a:endParaRPr lang="en-US" sz="7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77440" y="2633472"/>
            <a:ext cx="1325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779776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20,954,284,895.33</a:t>
            </a:r>
            <a:endParaRPr lang="en-US" sz="7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03320" y="2633472"/>
            <a:ext cx="1325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779776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18,056,403,834.00</a:t>
            </a:r>
            <a:endParaRPr lang="en-US" sz="7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0" y="2633472"/>
            <a:ext cx="1325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779776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16.05%</a:t>
            </a:r>
            <a:endParaRPr lang="en-US" sz="7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51560" y="3054096"/>
            <a:ext cx="1325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200400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净利润</a:t>
            </a:r>
            <a:endParaRPr lang="en-US" sz="7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377440" y="3054096"/>
            <a:ext cx="1325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3200400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3,421.88 万元</a:t>
            </a:r>
            <a:endParaRPr lang="en-US" sz="7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703320" y="3054096"/>
            <a:ext cx="1325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200400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2,980.12 万元</a:t>
            </a:r>
            <a:endParaRPr lang="en-US" sz="7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0" y="3054096"/>
            <a:ext cx="13258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200400"/>
            <a:ext cx="1234440" cy="1097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14.82%</a:t>
            </a:r>
            <a:endParaRPr lang="en-US" sz="7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43000" y="43891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71016" y="4517136"/>
            <a:ext cx="13441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亿元 → 元</a:t>
            </a:r>
            <a:endParaRPr lang="en-US" sz="18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71016" y="4892040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单位归一化</a:t>
            </a:r>
            <a:endParaRPr lang="en-US" sz="90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880360" y="43891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08376" y="4517136"/>
            <a:ext cx="13441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table_001</a:t>
            </a:r>
            <a:endParaRPr lang="en-US" sz="1800" b="1" dirty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008376" y="4892040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来源追踪</a:t>
            </a:r>
            <a:endParaRPr lang="en-US" sz="90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617720" y="438912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45736" y="4517136"/>
            <a:ext cx="15727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pass / warning</a:t>
            </a:r>
            <a:endParaRPr lang="en-US" sz="1800" b="1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45736" y="4892040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质量标记</a:t>
            </a:r>
            <a:endParaRPr lang="en-US" sz="90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086600" y="1417320"/>
            <a:ext cx="4206240" cy="425196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3488" y="1691640"/>
            <a:ext cx="18288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财务指标对象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06640" y="2240280"/>
            <a:ext cx="3474720" cy="23774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营业收入、营业成本、净利润、现金流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资产总额、负债总额、毛利率、净利率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 raw_value 与 normalized_value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支持入库、趋势分析、自动校验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技术创新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四个关键技术创新点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983480" cy="1627632"/>
          </a:xfrm>
          <a:prstGeom prst="roundRect">
            <a:avLst>
              <a:gd name="adj" fmla="val 3371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64592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01</a:t>
            </a:r>
            <a:endParaRPr lang="en-US" sz="13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1627632"/>
            <a:ext cx="356616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跨页表格合并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848" y="2221992"/>
            <a:ext cx="434340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基于页码连续、表头相似、列数一致、终止信号等特征合并逻辑表</a:t>
            </a:r>
            <a:endParaRPr lang="en-US" sz="11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4983480" cy="1627632"/>
          </a:xfrm>
          <a:prstGeom prst="roundRect">
            <a:avLst>
              <a:gd name="adj" fmla="val 3371"/>
            </a:avLst>
          </a:prstGeom>
          <a:solidFill>
            <a:srgbClr val="CFFAFE"/>
          </a:solidFill>
          <a:ln w="8890">
            <a:solidFill>
              <a:srgbClr val="CFF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64592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02</a:t>
            </a:r>
            <a:endParaRPr lang="en-US" sz="1300" b="1" dirty="0">
              <a:solidFill>
                <a:srgbClr val="06B6D4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32320" y="1627632"/>
            <a:ext cx="356616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财务单位归一化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47688" y="2221992"/>
            <a:ext cx="434340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识别元 / 万元 / 亿元 / 千元 / 百分比，统一为可计算标准单位</a:t>
            </a:r>
            <a:endParaRPr lang="en-US" sz="11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4983480" cy="1627632"/>
          </a:xfrm>
          <a:prstGeom prst="roundRect">
            <a:avLst>
              <a:gd name="adj" fmla="val 3371"/>
            </a:avLst>
          </a:prstGeom>
          <a:solidFill>
            <a:srgbClr val="D1FAE5"/>
          </a:solidFill>
          <a:ln w="889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977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03</a:t>
            </a:r>
            <a:endParaRPr lang="en-US" sz="1300" b="1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54480" y="3959352"/>
            <a:ext cx="356616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同比重算校验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69848" y="4553712"/>
            <a:ext cx="434340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current / previous 重算披露比例，发现错位、漏识别和单位错误</a:t>
            </a:r>
            <a:endParaRPr lang="en-US" sz="11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3749040"/>
            <a:ext cx="4983480" cy="1627632"/>
          </a:xfrm>
          <a:prstGeom prst="roundRect">
            <a:avLst>
              <a:gd name="adj" fmla="val 3371"/>
            </a:avLst>
          </a:prstGeom>
          <a:solidFill>
            <a:srgbClr val="EDE9FE"/>
          </a:solidFill>
          <a:ln w="889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3977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04</a:t>
            </a:r>
            <a:endParaRPr lang="en-US" sz="1300" b="1" dirty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0" y="3959352"/>
            <a:ext cx="356616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质量闭环恢复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47688" y="4553712"/>
            <a:ext cx="434340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质量低于阈值时自动诊断，并触发 OCR、表格增强、Schema 修复等策略</a:t>
            </a:r>
            <a:endParaRPr lang="en-US" sz="11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工程化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工程实现：可运行、可复现、可观测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3657600" cy="4480560"/>
          </a:xfrm>
          <a:prstGeom prst="roundRect">
            <a:avLst>
              <a:gd name="adj" fmla="val 1500"/>
            </a:avLst>
          </a:prstGeom>
          <a:solidFill>
            <a:srgbClr val="0F172A"/>
          </a:solidFill>
          <a:ln w="889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00784"/>
            <a:ext cx="2560320" cy="2377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模块化工程结构</a:t>
            </a:r>
            <a:endParaRPr lang="en-US" sz="1400" b="1" dirty="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2176272"/>
            <a:ext cx="2743200" cy="2651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agent/planner.py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agent/executor.py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postprocess.py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validator.py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schema.py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api/main.py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scripts/run_demo.py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34" charset="-120"/>
              </a:rPr>
              <a:t>tests/</a:t>
            </a: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92040" y="1417320"/>
            <a:ext cx="6172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56632" y="1563624"/>
            <a:ext cx="7315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CLI</a:t>
            </a:r>
            <a:endParaRPr lang="en-US" sz="105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26480" y="1563624"/>
            <a:ext cx="448056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python scripts/run_demo.py --mode auto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92040" y="2258568"/>
            <a:ext cx="6172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2404872"/>
            <a:ext cx="7315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API</a:t>
            </a:r>
            <a:endParaRPr lang="en-US" sz="105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2404872"/>
            <a:ext cx="448056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POST /parse · POST /batch_parse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92040" y="3099816"/>
            <a:ext cx="6172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3246120"/>
            <a:ext cx="7315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Docker</a:t>
            </a:r>
            <a:endParaRPr lang="en-US" sz="105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3246120"/>
            <a:ext cx="448056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docker compose up --build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92040" y="3941064"/>
            <a:ext cx="6172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4087368"/>
            <a:ext cx="7315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日志</a:t>
            </a:r>
            <a:endParaRPr lang="en-US" sz="105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26480" y="4087368"/>
            <a:ext cx="448056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run.log.jsonl 记录计划、参数、耗时、恢复动作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92040" y="4782312"/>
            <a:ext cx="617220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4928616"/>
            <a:ext cx="7315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测试</a:t>
            </a:r>
            <a:endParaRPr lang="en-US" sz="105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4928616"/>
            <a:ext cx="448056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 / 集成 / 质量 / 财务 / 稳定性 / 回归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评测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评测方案：用指标证明不是 Demo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00400" cy="42976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645920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评测数据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2514600" cy="2743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上市公司年报 / 半年报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行业研究报告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表格密集 PDF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扫描件 / 低质量 PDF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跨页表格样例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人工异常样例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70408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691640"/>
            <a:ext cx="1645920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关键指标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09160" y="2194560"/>
            <a:ext cx="16459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章节结构准确率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37960" y="2212848"/>
            <a:ext cx="271576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0" y="2176272"/>
            <a:ext cx="54864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90%</a:t>
            </a:r>
            <a:endParaRPr lang="en-US" sz="92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09160" y="2651760"/>
            <a:ext cx="16459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表格识别准确率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37960" y="2670048"/>
            <a:ext cx="2836469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0" y="2633472"/>
            <a:ext cx="54864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94%</a:t>
            </a:r>
            <a:endParaRPr lang="en-US" sz="92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3108960"/>
            <a:ext cx="16459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财务指标命中率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37960" y="3127248"/>
            <a:ext cx="2745943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3090672"/>
            <a:ext cx="54864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91%</a:t>
            </a:r>
            <a:endParaRPr lang="en-US" sz="92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09160" y="3566160"/>
            <a:ext cx="16459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单位归一化准确率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37960" y="3584448"/>
            <a:ext cx="2866644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3547872"/>
            <a:ext cx="54864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95%</a:t>
            </a:r>
            <a:endParaRPr lang="en-US" sz="92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09160" y="4023360"/>
            <a:ext cx="16459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 合规率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37960" y="4041648"/>
            <a:ext cx="301752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4005072"/>
            <a:ext cx="54864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100%</a:t>
            </a:r>
            <a:endParaRPr lang="en-US" sz="92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09160" y="4480560"/>
            <a:ext cx="164592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自动恢复成功率</a:t>
            </a:r>
            <a:endParaRPr lang="en-US" sz="92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37960" y="4498848"/>
            <a:ext cx="2595067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4462272"/>
            <a:ext cx="548640" cy="14630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86%</a:t>
            </a:r>
            <a:endParaRPr lang="en-US" sz="92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81728" y="5166360"/>
            <a:ext cx="6126480" cy="2011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 output 与人工 gold 标注对比，形成可量化、可迭代的评测报告。</a:t>
            </a:r>
            <a:endParaRPr lang="en-US" sz="10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价值</a:t>
            </a:r>
            <a:endParaRPr 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应用价值：服务高质量产业语料生产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2331720" cy="3383280"/>
          </a:xfrm>
          <a:prstGeom prst="roundRect">
            <a:avLst>
              <a:gd name="adj" fmla="val 2353"/>
            </a:avLst>
          </a:prstGeom>
          <a:solidFill>
            <a:srgbClr val="DBEAFE"/>
          </a:solidFill>
          <a:ln w="889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87452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金融场景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" y="2788920"/>
            <a:ext cx="1783080" cy="1463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年报、研报、财务指标、风险提示、金融知识库</a:t>
            </a:r>
            <a:endParaRPr lang="en-US" sz="11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11880" y="1645920"/>
            <a:ext cx="2331720" cy="3383280"/>
          </a:xfrm>
          <a:prstGeom prst="roundRect">
            <a:avLst>
              <a:gd name="adj" fmla="val 2353"/>
            </a:avLst>
          </a:prstGeom>
          <a:solidFill>
            <a:srgbClr val="CFFAFE"/>
          </a:solidFill>
          <a:ln w="8890">
            <a:solidFill>
              <a:srgbClr val="CFF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1965960"/>
            <a:ext cx="187452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法律与合规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67912" y="2788920"/>
            <a:ext cx="1783080" cy="1463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合同条款、招股书、公告、法规政策归档</a:t>
            </a:r>
            <a:endParaRPr lang="en-US" sz="11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2331720" cy="3383280"/>
          </a:xfrm>
          <a:prstGeom prst="roundRect">
            <a:avLst>
              <a:gd name="adj" fmla="val 2353"/>
            </a:avLst>
          </a:prstGeom>
          <a:solidFill>
            <a:srgbClr val="D1FAE5"/>
          </a:solidFill>
          <a:ln w="889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965960"/>
            <a:ext cx="187452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企业数据治理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56832" y="2788920"/>
            <a:ext cx="1783080" cy="1463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 PDF 档案、内部制度、报告自动入库</a:t>
            </a:r>
            <a:endParaRPr lang="en-US" sz="11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89720" y="1645920"/>
            <a:ext cx="2331720" cy="3383280"/>
          </a:xfrm>
          <a:prstGeom prst="roundRect">
            <a:avLst>
              <a:gd name="adj" fmla="val 2353"/>
            </a:avLst>
          </a:prstGeom>
          <a:solidFill>
            <a:srgbClr val="EDE9FE"/>
          </a:solidFill>
          <a:ln w="889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1965960"/>
            <a:ext cx="187452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大模型数据生态</a:t>
            </a:r>
            <a:endParaRPr lang="en-US" sz="15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445752" y="2788920"/>
            <a:ext cx="1783080" cy="1463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知识库、训练数据清洗、文档问答生成</a:t>
            </a:r>
            <a:endParaRPr lang="en-US" sz="115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5504688"/>
            <a:ext cx="987552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通过替换字段抽取规则、质量校验规则和领域 Schema，可扩展至招投标、保险条款、医疗指南、科研论文、工业说明书等场景。</a:t>
            </a:r>
            <a:endParaRPr lang="en-US" sz="12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</a:t>
            </a:r>
            <a:r>
              <a:rPr lang="zh-CN" altLang="en-US" sz="9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lang="zh-CN" altLang="en-US" sz="9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总结：从解析工具到产业级 Data Agent</a:t>
            </a:r>
            <a:endParaRPr lang="en-US" sz="24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MinerU-DataAgent</a:t>
            </a:r>
            <a:endParaRPr lang="en-US" sz="75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561320" cy="1143000"/>
          </a:xfrm>
          <a:prstGeom prst="roundRect">
            <a:avLst>
              <a:gd name="adj" fmla="val 4800"/>
            </a:avLst>
          </a:prstGeom>
          <a:solidFill>
            <a:srgbClr val="0F172A"/>
          </a:solidFill>
          <a:ln w="889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83080"/>
            <a:ext cx="982980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MinerU-DataAgent 将 MinerU 的底层解析能力，升级为具备规划、结构化、校验、恢复和工程化交付能力的智能体系统。</a:t>
            </a:r>
            <a:endParaRPr lang="en-US" sz="1600" b="1" dirty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60120" y="3063240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191256"/>
            <a:ext cx="393192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化任务规划</a:t>
            </a:r>
            <a:endParaRPr lang="en-US" sz="12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3502152"/>
            <a:ext cx="393192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动态拆解任务，自动选择工具与策略</a:t>
            </a:r>
            <a:endParaRPr lang="en-US" sz="9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3063240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191256"/>
            <a:ext cx="393192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可信结构化输出</a:t>
            </a:r>
            <a:endParaRPr lang="en-US" sz="12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46520" y="3502152"/>
            <a:ext cx="393192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章节、表格、指标、质量报告、日志统一 Schema</a:t>
            </a:r>
            <a:endParaRPr lang="en-US" sz="9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4325112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453128"/>
            <a:ext cx="393192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质量闭环恢复</a:t>
            </a:r>
            <a:endParaRPr lang="en-US" sz="12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4764024"/>
            <a:ext cx="393192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自动评分、诊断、重试、修复与风险提示</a:t>
            </a:r>
            <a:endParaRPr lang="en-US" sz="9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4325112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453128"/>
            <a:ext cx="393192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工程落地价值</a:t>
            </a:r>
            <a:endParaRPr lang="en-US" sz="12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46520" y="4764024"/>
            <a:ext cx="393192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API、CLI、Docker、测试、评测与开源生态</a:t>
            </a:r>
            <a:endParaRPr lang="en-US" sz="98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023360" y="5897880"/>
            <a:ext cx="4114800" cy="320040"/>
          </a:xfrm>
          <a:prstGeom prst="roundRect">
            <a:avLst>
              <a:gd name="adj" fmla="val 25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5971032"/>
            <a:ext cx="39684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 · 可追溯 · 可入库 · 可复现</a:t>
            </a:r>
            <a:endParaRPr lang="en-US" sz="85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2620</Words>
  <Application>WPS 演示</Application>
  <PresentationFormat>On-screen Show (16:9)</PresentationFormat>
  <Paragraphs>397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Noto Sans CJK SC</vt:lpstr>
      <vt:lpstr>Segment7</vt:lpstr>
      <vt:lpstr>Noto Sans CJK SC</vt:lpstr>
      <vt:lpstr>Noto Sans CJK SC</vt:lpstr>
      <vt:lpstr>Noto Sans CJK SC</vt:lpstr>
      <vt:lpstr>Consolas</vt:lpstr>
      <vt:lpstr>Consolas</vt:lpstr>
      <vt:lpstr>Consolas</vt:lpstr>
      <vt:lpstr>微软雅黑</vt:lpstr>
      <vt:lpstr>Arial Unicode MS</vt:lpstr>
      <vt:lpstr>等线</vt:lpstr>
      <vt:lpstr>Calibri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MinerU-DataAgent</dc:title>
  <dc:creator>OpenAI</dc:creator>
  <dc:subject>MinerU-DataAgent 技术路演</dc:subject>
  <cp:lastModifiedBy>赵翌臣</cp:lastModifiedBy>
  <cp:revision>16</cp:revision>
  <dcterms:created xsi:type="dcterms:W3CDTF">2026-05-14T03:13:00Z</dcterms:created>
  <dcterms:modified xsi:type="dcterms:W3CDTF">2026-05-14T03:21:21Z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CFBA5A952CAE4B3093990F6C32733753_12</vt:lpwstr>
  </property>
  <property fmtid="{D5CDD505-2E9C-101B-9397-08002B2CF9AE}" pid="3" name="KSOProductBuildVer">
    <vt:lpwstr>2052-12.1.0.20305</vt:lpwstr>
  </property>
</Properties>
</file>